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42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f34b40a786_0_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f34b40a786_0_2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f34b40a786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f34b40a786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f34b40a786_0_3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f34b40a786_0_3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18fe0b642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18fe0b642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f34b40a786_0_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f34b40a786_0_3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18fe0b642c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18fe0b642c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f34b40a786_0_3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f34b40a786_0_3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34b40a786_0_4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f34b40a786_0_4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f34b40a786_0_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f34b40a786_0_3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f34b40a786_0_4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f34b40a786_0_4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f34b40a786_0_4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f34b40a786_0_4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f3ae9ae3f8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f3ae9ae3f8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f34b40a786_0_3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f34b40a786_0_3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f3ae9ae3f8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f3ae9ae3f8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f34b40a786_0_4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f34b40a786_0_4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f34b40a786_0_4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f34b40a786_0_4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f34b40a786_0_4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f34b40a786_0_4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f34b40a786_0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f34b40a786_0_3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f34b40a786_0_3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f34b40a786_0_3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321400" y="1505800"/>
            <a:ext cx="82899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300"/>
              <a:t>CERN Particle Collider Update for more discovery in high energy physics  (HL LHC)</a:t>
            </a:r>
            <a:endParaRPr sz="3300"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230525" y="3009525"/>
            <a:ext cx="88407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1597"/>
              <a:t>BTL research and assembly </a:t>
            </a:r>
            <a:endParaRPr sz="1597"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1597"/>
              <a:t>Kristi Sevier, Dr. Maria Spiropulu, Dr. Adi Bornheim, Guillermos Reales Gutiérrez, Ianos Schmidt</a:t>
            </a:r>
            <a:endParaRPr sz="1597"/>
          </a:p>
        </p:txBody>
      </p:sp>
      <p:pic>
        <p:nvPicPr>
          <p:cNvPr id="87" name="Google Shape;87;p13"/>
          <p:cNvPicPr preferRelativeResize="0"/>
          <p:nvPr/>
        </p:nvPicPr>
        <p:blipFill rotWithShape="1">
          <a:blip r:embed="rId3">
            <a:alphaModFix amt="80000"/>
          </a:blip>
          <a:srcRect t="4361"/>
          <a:stretch/>
        </p:blipFill>
        <p:spPr>
          <a:xfrm>
            <a:off x="735402" y="38089"/>
            <a:ext cx="783072" cy="74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" y="31025"/>
            <a:ext cx="735400" cy="747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72861" y="45153"/>
            <a:ext cx="735389" cy="7329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40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457200" lvl="0" indent="-322847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374"/>
              <a:t>My name is Kristi Sevier</a:t>
            </a:r>
            <a:endParaRPr sz="2374"/>
          </a:p>
          <a:p>
            <a:pPr marL="457200" lvl="0" indent="-322847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374"/>
              <a:t>Major in mechanical engineering, focus in robotics, minor in aerospace</a:t>
            </a:r>
            <a:endParaRPr sz="2374"/>
          </a:p>
          <a:p>
            <a:pPr marL="457200" lvl="0" indent="-322847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374"/>
              <a:t>Strong interest in high energy physics </a:t>
            </a:r>
            <a:endParaRPr sz="2374"/>
          </a:p>
          <a:p>
            <a:pPr marL="457200" lvl="0" indent="-322847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374"/>
              <a:t>Third year at Caltech</a:t>
            </a:r>
            <a:endParaRPr sz="2374"/>
          </a:p>
          <a:p>
            <a:pPr marL="457200" lvl="0" indent="-322847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374"/>
              <a:t>Research Project Engineer Intern at CERN</a:t>
            </a:r>
            <a:endParaRPr sz="2374"/>
          </a:p>
          <a:p>
            <a:pPr marL="457200" lvl="0" indent="-322847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374"/>
              <a:t>Mentors: Dr. Maria Spiropulu and Dr. Adi Bornheim</a:t>
            </a:r>
            <a:endParaRPr sz="2374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7" name="Google Shape;9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3500" y="0"/>
            <a:ext cx="2180500" cy="7329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>
            <a:spLocks noGrp="1"/>
          </p:cNvSpPr>
          <p:nvPr>
            <p:ph type="sldNum" idx="12"/>
          </p:nvPr>
        </p:nvSpPr>
        <p:spPr>
          <a:xfrm>
            <a:off x="8550056" y="478094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11"/>
              <a:t>Background and Motivation</a:t>
            </a:r>
            <a:endParaRPr sz="2611"/>
          </a:p>
        </p:txBody>
      </p:sp>
      <p:sp>
        <p:nvSpPr>
          <p:cNvPr id="104" name="Google Shape;104;p15"/>
          <p:cNvSpPr txBox="1">
            <a:spLocks noGrp="1"/>
          </p:cNvSpPr>
          <p:nvPr>
            <p:ph type="body" idx="4294967295"/>
          </p:nvPr>
        </p:nvSpPr>
        <p:spPr>
          <a:xfrm>
            <a:off x="311700" y="864475"/>
            <a:ext cx="7802700" cy="19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endParaRPr sz="100">
              <a:solidFill>
                <a:srgbClr val="11111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SzPts val="275"/>
              <a:buNone/>
            </a:pPr>
            <a:endParaRPr sz="100">
              <a:solidFill>
                <a:srgbClr val="11111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6950" algn="l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ts val="1391"/>
              <a:buChar char="●"/>
            </a:pPr>
            <a:r>
              <a:rPr lang="en" sz="1491">
                <a:solidFill>
                  <a:srgbClr val="111111"/>
                </a:solidFill>
                <a:highlight>
                  <a:srgbClr val="FFFFFF"/>
                </a:highlight>
              </a:rPr>
              <a:t>The Large Hadron Collider is the world's largest particle accelerator </a:t>
            </a:r>
            <a:endParaRPr sz="1491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491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457200" lvl="0" indent="-323300" algn="l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ts val="1491"/>
              <a:buChar char="●"/>
            </a:pPr>
            <a:r>
              <a:rPr lang="en" sz="1491">
                <a:solidFill>
                  <a:srgbClr val="111111"/>
                </a:solidFill>
                <a:highlight>
                  <a:srgbClr val="FFFFFF"/>
                </a:highlight>
              </a:rPr>
              <a:t>2 high energy beams travel 27 km near light speed before colliding </a:t>
            </a:r>
            <a:endParaRPr sz="1491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491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457200" lvl="0" indent="-323300" algn="l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ts val="1491"/>
              <a:buChar char="●"/>
            </a:pPr>
            <a:r>
              <a:rPr lang="en" sz="1491">
                <a:solidFill>
                  <a:srgbClr val="111111"/>
                </a:solidFill>
                <a:highlight>
                  <a:srgbClr val="FFFFFF"/>
                </a:highlight>
              </a:rPr>
              <a:t>Proton collisions occur in 1 of 4 detectors in the LHC and </a:t>
            </a:r>
            <a:r>
              <a:rPr lang="en" sz="1491">
                <a:solidFill>
                  <a:srgbClr val="111111"/>
                </a:solidFill>
                <a:highlight>
                  <a:schemeClr val="lt1"/>
                </a:highlight>
              </a:rPr>
              <a:t>the detectors collect data so we can learn more about subatomic physics</a:t>
            </a:r>
            <a:endParaRPr sz="1491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491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SzPts val="275"/>
              <a:buNone/>
            </a:pPr>
            <a:endParaRPr sz="212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SzPts val="275"/>
              <a:buNone/>
            </a:pPr>
            <a:endParaRPr sz="100">
              <a:solidFill>
                <a:srgbClr val="11111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SzPts val="275"/>
              <a:buNone/>
            </a:pPr>
            <a:endParaRPr sz="100">
              <a:solidFill>
                <a:srgbClr val="11111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5000"/>
              </a:lnSpc>
              <a:spcBef>
                <a:spcPts val="300"/>
              </a:spcBef>
              <a:spcAft>
                <a:spcPts val="1200"/>
              </a:spcAft>
              <a:buSzPts val="275"/>
              <a:buNone/>
            </a:pPr>
            <a:endParaRPr sz="250"/>
          </a:p>
        </p:txBody>
      </p:sp>
      <p:pic>
        <p:nvPicPr>
          <p:cNvPr id="105" name="Google Shape;10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388" y="2636963"/>
            <a:ext cx="2800707" cy="196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37775" y="0"/>
            <a:ext cx="2106225" cy="70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769425" y="4733150"/>
            <a:ext cx="1920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Diagram from Wikipedia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8" name="Google Shape;108;p15"/>
          <p:cNvPicPr preferRelativeResize="0"/>
          <p:nvPr/>
        </p:nvPicPr>
        <p:blipFill rotWithShape="1">
          <a:blip r:embed="rId5">
            <a:alphaModFix/>
          </a:blip>
          <a:srcRect r="852" b="2047"/>
          <a:stretch/>
        </p:blipFill>
        <p:spPr>
          <a:xfrm>
            <a:off x="3397750" y="2771275"/>
            <a:ext cx="5479200" cy="202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4810250" y="4733150"/>
            <a:ext cx="28905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ResearchGate paper on CMS HL LHC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11"/>
              <a:t>Background and Motivation</a:t>
            </a:r>
            <a:endParaRPr sz="2611"/>
          </a:p>
        </p:txBody>
      </p:sp>
      <p:sp>
        <p:nvSpPr>
          <p:cNvPr id="116" name="Google Shape;116;p16"/>
          <p:cNvSpPr txBox="1">
            <a:spLocks noGrp="1"/>
          </p:cNvSpPr>
          <p:nvPr>
            <p:ph type="body" idx="4294967295"/>
          </p:nvPr>
        </p:nvSpPr>
        <p:spPr>
          <a:xfrm>
            <a:off x="311700" y="811325"/>
            <a:ext cx="4845300" cy="156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endParaRPr sz="100">
              <a:solidFill>
                <a:srgbClr val="11111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491">
              <a:solidFill>
                <a:srgbClr val="111111"/>
              </a:solidFill>
              <a:highlight>
                <a:schemeClr val="lt1"/>
              </a:highlight>
            </a:endParaRPr>
          </a:p>
          <a:p>
            <a:pPr marL="457200" lvl="0" indent="-323300" algn="l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ts val="1491"/>
              <a:buChar char="●"/>
            </a:pPr>
            <a:r>
              <a:rPr lang="en" sz="1491">
                <a:solidFill>
                  <a:srgbClr val="111111"/>
                </a:solidFill>
                <a:highlight>
                  <a:schemeClr val="lt1"/>
                </a:highlight>
              </a:rPr>
              <a:t>More collisions = more discovery of rare physics</a:t>
            </a:r>
            <a:endParaRPr sz="1491">
              <a:solidFill>
                <a:srgbClr val="111111"/>
              </a:solidFill>
              <a:highlight>
                <a:schemeClr val="lt1"/>
              </a:highlight>
            </a:endParaRPr>
          </a:p>
          <a:p>
            <a:pPr marL="457200" lvl="0" indent="0" algn="l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491">
              <a:solidFill>
                <a:srgbClr val="111111"/>
              </a:solidFill>
              <a:highlight>
                <a:schemeClr val="lt1"/>
              </a:highlight>
            </a:endParaRPr>
          </a:p>
          <a:p>
            <a:pPr marL="457200" lvl="0" indent="-323300" algn="l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ts val="1491"/>
              <a:buChar char="●"/>
            </a:pPr>
            <a:r>
              <a:rPr lang="en" sz="1491">
                <a:solidFill>
                  <a:srgbClr val="111111"/>
                </a:solidFill>
                <a:highlight>
                  <a:schemeClr val="lt1"/>
                </a:highlight>
              </a:rPr>
              <a:t>LHC detectors process data from over a million collisions per min in phase 1 (current phase)</a:t>
            </a:r>
            <a:endParaRPr sz="100">
              <a:solidFill>
                <a:srgbClr val="11111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5000"/>
              </a:lnSpc>
              <a:spcBef>
                <a:spcPts val="300"/>
              </a:spcBef>
              <a:spcAft>
                <a:spcPts val="1200"/>
              </a:spcAft>
              <a:buSzPts val="275"/>
              <a:buNone/>
            </a:pPr>
            <a:endParaRPr sz="250"/>
          </a:p>
        </p:txBody>
      </p:sp>
      <p:pic>
        <p:nvPicPr>
          <p:cNvPr id="117" name="Google Shape;11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7775" y="0"/>
            <a:ext cx="2106225" cy="70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5075" y="2515725"/>
            <a:ext cx="4593849" cy="229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4888000" y="1096250"/>
            <a:ext cx="4256100" cy="16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3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91"/>
              <a:buFont typeface="Roboto"/>
              <a:buChar char="●"/>
            </a:pPr>
            <a:r>
              <a:rPr lang="en" sz="1491">
                <a:solidFill>
                  <a:srgbClr val="11111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LHC detectors need to handle 15x more collisions for the HL LHC update (phase 2)</a:t>
            </a:r>
            <a:endParaRPr sz="1491">
              <a:solidFill>
                <a:srgbClr val="11111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491">
              <a:solidFill>
                <a:srgbClr val="11111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300" algn="l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ts val="1491"/>
              <a:buFont typeface="Roboto"/>
              <a:buChar char="●"/>
            </a:pPr>
            <a:r>
              <a:rPr lang="en" sz="1491">
                <a:solidFill>
                  <a:srgbClr val="11111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The High Luminosity Update reworks detectors to accomplish this</a:t>
            </a:r>
            <a:endParaRPr sz="100">
              <a:solidFill>
                <a:srgbClr val="11111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endParaRPr sz="25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3879500" y="4745425"/>
            <a:ext cx="2286000" cy="1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https://cms.cern/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" name="Google Shape;121;p1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 and Motivation</a:t>
            </a:r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body" idx="1"/>
          </p:nvPr>
        </p:nvSpPr>
        <p:spPr>
          <a:xfrm>
            <a:off x="311700" y="898175"/>
            <a:ext cx="5921400" cy="3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734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55"/>
              <a:buChar char="●"/>
            </a:pPr>
            <a:r>
              <a:rPr lang="en" sz="1555">
                <a:solidFill>
                  <a:srgbClr val="111111"/>
                </a:solidFill>
                <a:highlight>
                  <a:srgbClr val="FFFFFF"/>
                </a:highlight>
              </a:rPr>
              <a:t>One detector is the CMS (compact muon solenoid)</a:t>
            </a:r>
            <a:endParaRPr sz="1555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770"/>
              <a:buNone/>
            </a:pPr>
            <a:endParaRPr sz="1555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457200" lvl="0" indent="-327342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ts val="1555"/>
              <a:buChar char="●"/>
            </a:pPr>
            <a:r>
              <a:rPr lang="en" sz="1555">
                <a:solidFill>
                  <a:srgbClr val="111111"/>
                </a:solidFill>
                <a:highlight>
                  <a:srgbClr val="FFFFFF"/>
                </a:highlight>
              </a:rPr>
              <a:t>MIP Timing Detector (MTD) added as a new layer in CMS</a:t>
            </a:r>
            <a:endParaRPr sz="1555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770"/>
              <a:buNone/>
            </a:pPr>
            <a:endParaRPr sz="1555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457200" lvl="0" indent="-327342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ts val="1555"/>
              <a:buChar char="●"/>
            </a:pPr>
            <a:r>
              <a:rPr lang="en" sz="1555">
                <a:solidFill>
                  <a:srgbClr val="111111"/>
                </a:solidFill>
                <a:highlight>
                  <a:srgbClr val="FFFFFF"/>
                </a:highlight>
              </a:rPr>
              <a:t>The MTD allows for higher resolution of particle collisions, so physicists can observe HEP phenomena</a:t>
            </a:r>
            <a:endParaRPr sz="1555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555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457200" lvl="0" indent="-327342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ts val="1555"/>
              <a:buChar char="●"/>
            </a:pPr>
            <a:r>
              <a:rPr lang="en" sz="1555">
                <a:solidFill>
                  <a:srgbClr val="111111"/>
                </a:solidFill>
                <a:highlight>
                  <a:srgbClr val="FFFFFF"/>
                </a:highlight>
              </a:rPr>
              <a:t>Important for observing cool physics and confirming what we know already in high energy physics/standard model</a:t>
            </a:r>
            <a:endParaRPr sz="1555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770"/>
              <a:buNone/>
            </a:pPr>
            <a:endParaRPr sz="1555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457200" lvl="0" indent="-327342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ts val="1555"/>
              <a:buChar char="●"/>
            </a:pPr>
            <a:r>
              <a:rPr lang="en" sz="1555">
                <a:solidFill>
                  <a:srgbClr val="111111"/>
                </a:solidFill>
                <a:highlight>
                  <a:srgbClr val="FFFFFF"/>
                </a:highlight>
              </a:rPr>
              <a:t>The MTD is made up of the Barrel Timing Layer (BTL), and the End Cap Timing Layer (ETL)</a:t>
            </a:r>
            <a:endParaRPr sz="1660"/>
          </a:p>
        </p:txBody>
      </p:sp>
      <p:pic>
        <p:nvPicPr>
          <p:cNvPr id="128" name="Google Shape;12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5650" y="1183063"/>
            <a:ext cx="2848350" cy="1618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37770" y="0"/>
            <a:ext cx="2106225" cy="70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7000425" y="2801775"/>
            <a:ext cx="1438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https://cms.cern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17"/>
          <p:cNvSpPr txBox="1">
            <a:spLocks noGrp="1"/>
          </p:cNvSpPr>
          <p:nvPr>
            <p:ph type="sldNum" idx="12"/>
          </p:nvPr>
        </p:nvSpPr>
        <p:spPr>
          <a:xfrm>
            <a:off x="8557950" y="484037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CMS Diagram (peeling the onion)</a:t>
            </a:r>
            <a:endParaRPr/>
          </a:p>
        </p:txBody>
      </p:sp>
      <p:sp>
        <p:nvSpPr>
          <p:cNvPr id="137" name="Google Shape;137;p1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6</a:t>
            </a:fld>
            <a:endParaRPr>
              <a:solidFill>
                <a:schemeClr val="dk2"/>
              </a:solidFill>
            </a:endParaRPr>
          </a:p>
        </p:txBody>
      </p:sp>
      <p:pic>
        <p:nvPicPr>
          <p:cNvPr id="138" name="Google Shape;13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525" y="1017800"/>
            <a:ext cx="7886959" cy="402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/>
          <p:nvPr/>
        </p:nvSpPr>
        <p:spPr>
          <a:xfrm>
            <a:off x="3555200" y="4668600"/>
            <a:ext cx="28905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Researchgate CMS Diagram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Summer Internship Overview</a:t>
            </a:r>
            <a:endParaRPr/>
          </a:p>
        </p:txBody>
      </p:sp>
      <p:sp>
        <p:nvSpPr>
          <p:cNvPr id="145" name="Google Shape;145;p19"/>
          <p:cNvSpPr txBox="1">
            <a:spLocks noGrp="1"/>
          </p:cNvSpPr>
          <p:nvPr>
            <p:ph type="body" idx="4294967295"/>
          </p:nvPr>
        </p:nvSpPr>
        <p:spPr>
          <a:xfrm>
            <a:off x="311700" y="1017800"/>
            <a:ext cx="4789500" cy="370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endParaRPr sz="575">
              <a:solidFill>
                <a:srgbClr val="11111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27747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61"/>
              <a:buChar char="●"/>
            </a:pPr>
            <a:r>
              <a:rPr lang="en" sz="1561" b="1">
                <a:solidFill>
                  <a:schemeClr val="dk1"/>
                </a:solidFill>
              </a:rPr>
              <a:t>Assembly and testing of the BTL</a:t>
            </a:r>
            <a:endParaRPr sz="1561" b="1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561" b="1">
              <a:solidFill>
                <a:schemeClr val="dk1"/>
              </a:solidFill>
            </a:endParaRPr>
          </a:p>
          <a:p>
            <a:pPr marL="457200" lvl="0" indent="-327747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61"/>
              <a:buChar char="●"/>
            </a:pPr>
            <a:r>
              <a:rPr lang="en" sz="1561">
                <a:solidFill>
                  <a:srgbClr val="000000"/>
                </a:solidFill>
              </a:rPr>
              <a:t>Barrel Timing Layer is made from 72 6 ft long trays of detector modules</a:t>
            </a:r>
            <a:endParaRPr sz="156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523"/>
              <a:buNone/>
            </a:pPr>
            <a:endParaRPr sz="1561">
              <a:solidFill>
                <a:srgbClr val="000000"/>
              </a:solidFill>
            </a:endParaRPr>
          </a:p>
          <a:p>
            <a:pPr marL="457200" lvl="0" indent="-327747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61"/>
              <a:buChar char="●"/>
            </a:pPr>
            <a:r>
              <a:rPr lang="en" sz="1561">
                <a:solidFill>
                  <a:srgbClr val="000000"/>
                </a:solidFill>
              </a:rPr>
              <a:t>The objective is to successfully assemble and test trays so it is ready for installation in CMS.</a:t>
            </a:r>
            <a:endParaRPr sz="156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523"/>
              <a:buNone/>
            </a:pPr>
            <a:endParaRPr sz="1561">
              <a:solidFill>
                <a:srgbClr val="000000"/>
              </a:solidFill>
            </a:endParaRPr>
          </a:p>
          <a:p>
            <a:pPr marL="457200" lvl="0" indent="-327747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61"/>
              <a:buChar char="●"/>
            </a:pPr>
            <a:r>
              <a:rPr lang="en" sz="1561">
                <a:solidFill>
                  <a:srgbClr val="000000"/>
                </a:solidFill>
              </a:rPr>
              <a:t>Sensor and detector modules, cold plate trays, and completed trays need to be assembled and tested to ensure proper function</a:t>
            </a:r>
            <a:endParaRPr sz="156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5000"/>
              </a:lnSpc>
              <a:spcBef>
                <a:spcPts val="300"/>
              </a:spcBef>
              <a:spcAft>
                <a:spcPts val="300"/>
              </a:spcAft>
              <a:buSzPts val="523"/>
              <a:buNone/>
            </a:pPr>
            <a:endParaRPr sz="67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6" name="Google Shape;146;p19"/>
          <p:cNvPicPr preferRelativeResize="0"/>
          <p:nvPr/>
        </p:nvPicPr>
        <p:blipFill rotWithShape="1">
          <a:blip r:embed="rId3">
            <a:alphaModFix/>
          </a:blip>
          <a:srcRect l="13110" r="19449"/>
          <a:stretch/>
        </p:blipFill>
        <p:spPr>
          <a:xfrm>
            <a:off x="5201750" y="945526"/>
            <a:ext cx="1875189" cy="370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9"/>
          <p:cNvPicPr preferRelativeResize="0"/>
          <p:nvPr/>
        </p:nvPicPr>
        <p:blipFill rotWithShape="1">
          <a:blip r:embed="rId4">
            <a:alphaModFix/>
          </a:blip>
          <a:srcRect l="12486" r="11421"/>
          <a:stretch/>
        </p:blipFill>
        <p:spPr>
          <a:xfrm rot="10800000">
            <a:off x="7177650" y="945751"/>
            <a:ext cx="1753975" cy="3705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08525" y="0"/>
            <a:ext cx="2135475" cy="717807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7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00"/>
              <a:t>Summer Internship Overview</a:t>
            </a:r>
            <a:endParaRPr sz="2600"/>
          </a:p>
        </p:txBody>
      </p:sp>
      <p:sp>
        <p:nvSpPr>
          <p:cNvPr id="155" name="Google Shape;155;p20"/>
          <p:cNvSpPr txBox="1">
            <a:spLocks noGrp="1"/>
          </p:cNvSpPr>
          <p:nvPr>
            <p:ph type="body" idx="4294967295"/>
          </p:nvPr>
        </p:nvSpPr>
        <p:spPr>
          <a:xfrm>
            <a:off x="-151875" y="1334675"/>
            <a:ext cx="4406100" cy="21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206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Char char="○"/>
            </a:pPr>
            <a:r>
              <a:rPr lang="en" sz="1450">
                <a:solidFill>
                  <a:srgbClr val="000000"/>
                </a:solidFill>
              </a:rPr>
              <a:t>Making tools for precise assembly of sensor modules and detector modules</a:t>
            </a:r>
            <a:endParaRPr sz="1450">
              <a:solidFill>
                <a:srgbClr val="000000"/>
              </a:solidFill>
            </a:endParaRPr>
          </a:p>
          <a:p>
            <a:pPr marL="914400" lvl="1" indent="-3206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Char char="○"/>
            </a:pPr>
            <a:r>
              <a:rPr lang="en" sz="1450">
                <a:solidFill>
                  <a:srgbClr val="000000"/>
                </a:solidFill>
              </a:rPr>
              <a:t>Using an assembly line of people to make the sensor and detector modules</a:t>
            </a:r>
            <a:endParaRPr sz="1450">
              <a:solidFill>
                <a:srgbClr val="000000"/>
              </a:solidFill>
            </a:endParaRPr>
          </a:p>
          <a:p>
            <a:pPr marL="914400" lvl="1" indent="-3206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Char char="○"/>
            </a:pPr>
            <a:r>
              <a:rPr lang="en" sz="1450">
                <a:solidFill>
                  <a:srgbClr val="000000"/>
                </a:solidFill>
              </a:rPr>
              <a:t>Testing the light yield of sensor modules using a dark box</a:t>
            </a:r>
            <a:endParaRPr sz="1450">
              <a:solidFill>
                <a:srgbClr val="000000"/>
              </a:solidFill>
            </a:endParaRPr>
          </a:p>
          <a:p>
            <a:pPr marL="914400" lvl="1" indent="-3206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Char char="○"/>
            </a:pPr>
            <a:r>
              <a:rPr lang="en" sz="1450">
                <a:solidFill>
                  <a:srgbClr val="000000"/>
                </a:solidFill>
              </a:rPr>
              <a:t>Testing cooling capabilities of individual detector modules using arduino</a:t>
            </a:r>
            <a:endParaRPr sz="145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300"/>
              </a:spcBef>
              <a:spcAft>
                <a:spcPts val="300"/>
              </a:spcAft>
              <a:buSzPts val="523"/>
              <a:buNone/>
            </a:pPr>
            <a:endParaRPr sz="67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6" name="Google Shape;156;p20"/>
          <p:cNvPicPr preferRelativeResize="0"/>
          <p:nvPr/>
        </p:nvPicPr>
        <p:blipFill rotWithShape="1">
          <a:blip r:embed="rId3">
            <a:alphaModFix/>
          </a:blip>
          <a:srcRect t="17778" r="70607" b="51949"/>
          <a:stretch/>
        </p:blipFill>
        <p:spPr>
          <a:xfrm>
            <a:off x="4337900" y="2435300"/>
            <a:ext cx="2486300" cy="1744599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57" name="Google Shape;157;p20"/>
          <p:cNvPicPr preferRelativeResize="0"/>
          <p:nvPr/>
        </p:nvPicPr>
        <p:blipFill rotWithShape="1">
          <a:blip r:embed="rId4">
            <a:alphaModFix/>
          </a:blip>
          <a:srcRect r="36487" b="51587"/>
          <a:stretch/>
        </p:blipFill>
        <p:spPr>
          <a:xfrm>
            <a:off x="6963502" y="2435300"/>
            <a:ext cx="1783469" cy="1744599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8" name="Google Shape;158;p20"/>
          <p:cNvSpPr txBox="1"/>
          <p:nvPr/>
        </p:nvSpPr>
        <p:spPr>
          <a:xfrm>
            <a:off x="213825" y="928650"/>
            <a:ext cx="53913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067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50"/>
              <a:buFont typeface="Roboto"/>
              <a:buChar char="●"/>
            </a:pPr>
            <a:r>
              <a:rPr lang="en" sz="1561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Summary of Methods for BTL Assembly/Testing</a:t>
            </a:r>
            <a:r>
              <a:rPr lang="en" sz="1450">
                <a:latin typeface="Roboto"/>
                <a:ea typeface="Roboto"/>
                <a:cs typeface="Roboto"/>
                <a:sym typeface="Roboto"/>
              </a:rPr>
              <a:t>: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0"/>
          <p:cNvSpPr txBox="1"/>
          <p:nvPr/>
        </p:nvSpPr>
        <p:spPr>
          <a:xfrm>
            <a:off x="3683000" y="1334675"/>
            <a:ext cx="5391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206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Roboto"/>
              <a:buChar char="○"/>
            </a:pPr>
            <a:r>
              <a:rPr lang="en" sz="1450">
                <a:latin typeface="Roboto"/>
                <a:ea typeface="Roboto"/>
                <a:cs typeface="Roboto"/>
                <a:sym typeface="Roboto"/>
              </a:rPr>
              <a:t>Testing cold plate trays thermal properties and ability to cool with CO2 pipes</a:t>
            </a:r>
            <a:endParaRPr sz="1450">
              <a:latin typeface="Roboto"/>
              <a:ea typeface="Roboto"/>
              <a:cs typeface="Roboto"/>
              <a:sym typeface="Roboto"/>
            </a:endParaRPr>
          </a:p>
          <a:p>
            <a:pPr marL="914400" lvl="1" indent="-3206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0"/>
              <a:buFont typeface="Roboto"/>
              <a:buChar char="○"/>
            </a:pPr>
            <a:r>
              <a:rPr lang="en" sz="1450">
                <a:latin typeface="Roboto"/>
                <a:ea typeface="Roboto"/>
                <a:cs typeface="Roboto"/>
                <a:sym typeface="Roboto"/>
              </a:rPr>
              <a:t>Testing cooling capabilities of fully assembled trays</a:t>
            </a:r>
            <a:endParaRPr sz="145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213824" y="4258350"/>
            <a:ext cx="7329975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70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Roboto"/>
              <a:buChar char="●"/>
            </a:pPr>
            <a:r>
              <a:rPr lang="en" sz="155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Goal: refine assembly &amp; testing process for most efficiency &amp; accuracy </a:t>
            </a:r>
            <a:endParaRPr sz="155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1" name="Google Shape;16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63500" y="0"/>
            <a:ext cx="2180500" cy="73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8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Methodology</a:t>
            </a:r>
            <a:endParaRPr dirty="0"/>
          </a:p>
        </p:txBody>
      </p:sp>
      <p:sp>
        <p:nvSpPr>
          <p:cNvPr id="168" name="Google Shape;168;p21"/>
          <p:cNvSpPr txBox="1">
            <a:spLocks noGrp="1"/>
          </p:cNvSpPr>
          <p:nvPr>
            <p:ph type="body" idx="4294967295"/>
          </p:nvPr>
        </p:nvSpPr>
        <p:spPr>
          <a:xfrm>
            <a:off x="246450" y="930800"/>
            <a:ext cx="6010500" cy="4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960" dirty="0">
                <a:solidFill>
                  <a:schemeClr val="dk1"/>
                </a:solidFill>
                <a:highlight>
                  <a:srgbClr val="FFFFFF"/>
                </a:highlight>
              </a:rPr>
              <a:t>Sensor Modules:</a:t>
            </a:r>
            <a:endParaRPr sz="596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32322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●"/>
            </a:pPr>
            <a:r>
              <a:rPr lang="en" sz="5960" dirty="0">
                <a:solidFill>
                  <a:srgbClr val="111111"/>
                </a:solidFill>
                <a:highlight>
                  <a:srgbClr val="FFFFFF"/>
                </a:highlight>
              </a:rPr>
              <a:t>Sensor modules are 2 Silicon Photomultipliers (SiPMs) and 1 LYSO crystal (Cerium doped Lutetium) which help detector modules detect photons.</a:t>
            </a:r>
            <a:endParaRPr sz="5960" dirty="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960" dirty="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457200" lvl="0" indent="-32322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●"/>
            </a:pPr>
            <a:r>
              <a:rPr lang="en" sz="5960" dirty="0">
                <a:solidFill>
                  <a:srgbClr val="111111"/>
                </a:solidFill>
                <a:highlight>
                  <a:srgbClr val="FFFFFF"/>
                </a:highlight>
              </a:rPr>
              <a:t>Gluing the SiPMs on LYSO require precision, as glue layers affect light yield </a:t>
            </a:r>
            <a:endParaRPr sz="5960" dirty="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960" dirty="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457200" lvl="0" indent="-32322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●"/>
            </a:pPr>
            <a:r>
              <a:rPr lang="en" sz="5960" dirty="0">
                <a:solidFill>
                  <a:srgbClr val="111111"/>
                </a:solidFill>
                <a:highlight>
                  <a:srgbClr val="FFFFFF"/>
                </a:highlight>
              </a:rPr>
              <a:t>A sensor module assembly jig can properly glue SiPMs on LYSO </a:t>
            </a:r>
            <a:endParaRPr sz="5960" dirty="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914400" lvl="1" indent="-32322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○"/>
            </a:pPr>
            <a:r>
              <a:rPr lang="en" sz="5960" dirty="0">
                <a:solidFill>
                  <a:srgbClr val="111111"/>
                </a:solidFill>
                <a:highlight>
                  <a:srgbClr val="FFFFFF"/>
                </a:highlight>
              </a:rPr>
              <a:t>A gluing jig spreads an even layer of glue onto each SiPM</a:t>
            </a:r>
            <a:endParaRPr sz="5960" dirty="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960" dirty="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457200" lvl="0" indent="-32322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●"/>
            </a:pPr>
            <a:r>
              <a:rPr lang="en" sz="5960" dirty="0">
                <a:solidFill>
                  <a:srgbClr val="111111"/>
                </a:solidFill>
                <a:highlight>
                  <a:srgbClr val="FFFFFF"/>
                </a:highlight>
              </a:rPr>
              <a:t>Dry sensor modules are tested</a:t>
            </a:r>
            <a:endParaRPr sz="5960" dirty="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914400" lvl="1" indent="-32322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○"/>
            </a:pPr>
            <a:r>
              <a:rPr lang="en" sz="5960" dirty="0">
                <a:solidFill>
                  <a:srgbClr val="111111"/>
                </a:solidFill>
                <a:highlight>
                  <a:srgbClr val="FFFFFF"/>
                </a:highlight>
              </a:rPr>
              <a:t>Placed into dark box connected to readout units to read light yield </a:t>
            </a:r>
            <a:endParaRPr sz="5960" dirty="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914400" lvl="1" indent="-32322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○"/>
            </a:pPr>
            <a:r>
              <a:rPr lang="en" sz="5960" dirty="0">
                <a:solidFill>
                  <a:srgbClr val="111111"/>
                </a:solidFill>
                <a:highlight>
                  <a:srgbClr val="FFFFFF"/>
                </a:highlight>
              </a:rPr>
              <a:t>Python program interprets light yield and provides plots</a:t>
            </a:r>
            <a:endParaRPr sz="5960" dirty="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914400" lvl="1" indent="-32322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○"/>
            </a:pPr>
            <a:r>
              <a:rPr lang="en" sz="5960" dirty="0">
                <a:solidFill>
                  <a:srgbClr val="111111"/>
                </a:solidFill>
                <a:highlight>
                  <a:srgbClr val="FFFFFF"/>
                </a:highlight>
              </a:rPr>
              <a:t>Look for consistent, high light yield</a:t>
            </a:r>
            <a:endParaRPr sz="5960" dirty="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11111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169" name="Google Shape;169;p21"/>
          <p:cNvPicPr preferRelativeResize="0"/>
          <p:nvPr/>
        </p:nvPicPr>
        <p:blipFill rotWithShape="1">
          <a:blip r:embed="rId3">
            <a:alphaModFix/>
          </a:blip>
          <a:srcRect t="17778" r="70607" b="51949"/>
          <a:stretch/>
        </p:blipFill>
        <p:spPr>
          <a:xfrm>
            <a:off x="6213300" y="2943775"/>
            <a:ext cx="2930700" cy="195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6579225" y="310437"/>
            <a:ext cx="2198850" cy="2930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31734" y="0"/>
            <a:ext cx="2012265" cy="6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1"/>
          <p:cNvSpPr txBox="1">
            <a:spLocks noGrp="1"/>
          </p:cNvSpPr>
          <p:nvPr>
            <p:ph type="sldNum" idx="12"/>
          </p:nvPr>
        </p:nvSpPr>
        <p:spPr>
          <a:xfrm>
            <a:off x="8538881" y="482834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9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2"/>
          <p:cNvSpPr txBox="1">
            <a:spLocks noGrp="1"/>
          </p:cNvSpPr>
          <p:nvPr>
            <p:ph type="title"/>
          </p:nvPr>
        </p:nvSpPr>
        <p:spPr>
          <a:xfrm>
            <a:off x="201300" y="353975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body" idx="4294967295"/>
          </p:nvPr>
        </p:nvSpPr>
        <p:spPr>
          <a:xfrm>
            <a:off x="257325" y="907400"/>
            <a:ext cx="6628200" cy="40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dk1"/>
                </a:solidFill>
                <a:highlight>
                  <a:srgbClr val="FFFFFF"/>
                </a:highlight>
              </a:rPr>
              <a:t>Detector Modules:</a:t>
            </a:r>
            <a:endParaRPr sz="6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●"/>
            </a:pPr>
            <a:r>
              <a:rPr lang="en" sz="6000">
                <a:solidFill>
                  <a:srgbClr val="111111"/>
                </a:solidFill>
                <a:highlight>
                  <a:srgbClr val="FFFFFF"/>
                </a:highlight>
              </a:rPr>
              <a:t>Detector modules are front end boards with 2 sensor modules</a:t>
            </a:r>
            <a:endParaRPr sz="60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○"/>
            </a:pPr>
            <a:r>
              <a:rPr lang="en" sz="6000">
                <a:solidFill>
                  <a:srgbClr val="111111"/>
                </a:solidFill>
                <a:highlight>
                  <a:srgbClr val="FFFFFF"/>
                </a:highlight>
              </a:rPr>
              <a:t>Placed in a copper housing using a tool </a:t>
            </a:r>
            <a:endParaRPr sz="60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60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●"/>
            </a:pPr>
            <a:r>
              <a:rPr lang="en" sz="6000">
                <a:solidFill>
                  <a:srgbClr val="111111"/>
                </a:solidFill>
                <a:highlight>
                  <a:srgbClr val="FFFFFF"/>
                </a:highlight>
              </a:rPr>
              <a:t>Precise application of copper housing for optimal electrical readout.</a:t>
            </a:r>
            <a:endParaRPr sz="60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○"/>
            </a:pPr>
            <a:r>
              <a:rPr lang="en" sz="6000">
                <a:solidFill>
                  <a:srgbClr val="111111"/>
                </a:solidFill>
                <a:highlight>
                  <a:srgbClr val="FFFFFF"/>
                </a:highlight>
              </a:rPr>
              <a:t>Hence the use of tool to upper right</a:t>
            </a:r>
            <a:endParaRPr sz="60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60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●"/>
            </a:pPr>
            <a:r>
              <a:rPr lang="en" sz="6000">
                <a:solidFill>
                  <a:srgbClr val="111111"/>
                </a:solidFill>
                <a:highlight>
                  <a:srgbClr val="FFFFFF"/>
                </a:highlight>
              </a:rPr>
              <a:t>The TECs (temperature electronic components) on each detector module cool them to make less work for cold plate</a:t>
            </a:r>
            <a:endParaRPr sz="60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60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●"/>
            </a:pPr>
            <a:r>
              <a:rPr lang="en" sz="6000">
                <a:solidFill>
                  <a:srgbClr val="111111"/>
                </a:solidFill>
                <a:highlight>
                  <a:srgbClr val="FFFFFF"/>
                </a:highlight>
              </a:rPr>
              <a:t>Arduino testing set-up for measuring cooling of TECS is on right</a:t>
            </a:r>
            <a:endParaRPr sz="60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60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●"/>
            </a:pPr>
            <a:r>
              <a:rPr lang="en" sz="6000">
                <a:solidFill>
                  <a:srgbClr val="111111"/>
                </a:solidFill>
                <a:highlight>
                  <a:srgbClr val="FFFFFF"/>
                </a:highlight>
              </a:rPr>
              <a:t>The arduino runs for 5 minutes while the detector module cools, and the plots show max temp difference</a:t>
            </a:r>
            <a:endParaRPr sz="60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4065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300"/>
              </a:spcAft>
              <a:buNone/>
            </a:pPr>
            <a:endParaRPr/>
          </a:p>
        </p:txBody>
      </p:sp>
      <p:pic>
        <p:nvPicPr>
          <p:cNvPr id="179" name="Google Shape;179;p22"/>
          <p:cNvPicPr preferRelativeResize="0"/>
          <p:nvPr/>
        </p:nvPicPr>
        <p:blipFill rotWithShape="1">
          <a:blip r:embed="rId3">
            <a:alphaModFix/>
          </a:blip>
          <a:srcRect l="30178" t="22188" r="8916" b="30959"/>
          <a:stretch/>
        </p:blipFill>
        <p:spPr>
          <a:xfrm>
            <a:off x="6684075" y="2974725"/>
            <a:ext cx="2459925" cy="1420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2"/>
          <p:cNvPicPr preferRelativeResize="0"/>
          <p:nvPr/>
        </p:nvPicPr>
        <p:blipFill rotWithShape="1">
          <a:blip r:embed="rId4">
            <a:alphaModFix/>
          </a:blip>
          <a:srcRect l="5236" t="5854" r="9621" b="10393"/>
          <a:stretch/>
        </p:blipFill>
        <p:spPr>
          <a:xfrm rot="-5400000">
            <a:off x="6953326" y="612600"/>
            <a:ext cx="1895875" cy="248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63500" y="0"/>
            <a:ext cx="2180500" cy="73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10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"/>
          <p:cNvSpPr txBox="1">
            <a:spLocks noGrp="1"/>
          </p:cNvSpPr>
          <p:nvPr>
            <p:ph type="title"/>
          </p:nvPr>
        </p:nvSpPr>
        <p:spPr>
          <a:xfrm>
            <a:off x="199650" y="421225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188" name="Google Shape;188;p23"/>
          <p:cNvSpPr txBox="1">
            <a:spLocks noGrp="1"/>
          </p:cNvSpPr>
          <p:nvPr>
            <p:ph type="body" idx="4294967295"/>
          </p:nvPr>
        </p:nvSpPr>
        <p:spPr>
          <a:xfrm>
            <a:off x="270200" y="939625"/>
            <a:ext cx="6693300" cy="38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Cold Plates: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11111"/>
              </a:buClr>
              <a:buSzPts val="1600"/>
              <a:buChar char="●"/>
            </a:pPr>
            <a:r>
              <a:rPr lang="en" sz="1600">
                <a:solidFill>
                  <a:srgbClr val="111111"/>
                </a:solidFill>
                <a:highlight>
                  <a:srgbClr val="FFFFFF"/>
                </a:highlight>
              </a:rPr>
              <a:t>Cold plates Assembly</a:t>
            </a:r>
            <a:endParaRPr sz="16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Char char="○"/>
            </a:pPr>
            <a:r>
              <a:rPr lang="en" sz="1600">
                <a:solidFill>
                  <a:srgbClr val="111111"/>
                </a:solidFill>
                <a:highlight>
                  <a:srgbClr val="FFFFFF"/>
                </a:highlight>
              </a:rPr>
              <a:t> 6 sections of cold plate using pins, </a:t>
            </a:r>
            <a:endParaRPr sz="16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Char char="○"/>
            </a:pPr>
            <a:r>
              <a:rPr lang="en" sz="1600">
                <a:solidFill>
                  <a:srgbClr val="111111"/>
                </a:solidFill>
                <a:highlight>
                  <a:srgbClr val="FFFFFF"/>
                </a:highlight>
              </a:rPr>
              <a:t>thermal paste in cold tube groves of plate</a:t>
            </a:r>
            <a:endParaRPr sz="16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Char char="○"/>
            </a:pPr>
            <a:r>
              <a:rPr lang="en" sz="1600">
                <a:solidFill>
                  <a:srgbClr val="111111"/>
                </a:solidFill>
                <a:highlight>
                  <a:srgbClr val="FFFFFF"/>
                </a:highlight>
              </a:rPr>
              <a:t>placing the CO2 tubes within the groves</a:t>
            </a:r>
            <a:endParaRPr sz="16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Char char="○"/>
            </a:pPr>
            <a:r>
              <a:rPr lang="en" sz="1600">
                <a:solidFill>
                  <a:srgbClr val="111111"/>
                </a:solidFill>
                <a:highlight>
                  <a:srgbClr val="FFFFFF"/>
                </a:highlight>
              </a:rPr>
              <a:t>Installing metal attachments over the cold tubes</a:t>
            </a:r>
            <a:endParaRPr sz="16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endParaRPr sz="16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Char char="●"/>
            </a:pPr>
            <a:r>
              <a:rPr lang="en" sz="1600">
                <a:solidFill>
                  <a:srgbClr val="111111"/>
                </a:solidFill>
                <a:highlight>
                  <a:srgbClr val="FFFFFF"/>
                </a:highlight>
              </a:rPr>
              <a:t>Cooling test: can tray cool to -30 degrees Celsius from freezing? </a:t>
            </a:r>
            <a:endParaRPr sz="16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Char char="○"/>
            </a:pPr>
            <a:r>
              <a:rPr lang="en" sz="1600">
                <a:solidFill>
                  <a:srgbClr val="111111"/>
                </a:solidFill>
                <a:highlight>
                  <a:srgbClr val="FFFFFF"/>
                </a:highlight>
              </a:rPr>
              <a:t>Place in a cold box (insulated box pumped with dry cold air) </a:t>
            </a:r>
            <a:endParaRPr sz="16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Char char="○"/>
            </a:pPr>
            <a:r>
              <a:rPr lang="en" sz="1600">
                <a:solidFill>
                  <a:srgbClr val="111111"/>
                </a:solidFill>
                <a:highlight>
                  <a:srgbClr val="FFFFFF"/>
                </a:highlight>
              </a:rPr>
              <a:t>Run Co2 through cold tubes and measure change in temp</a:t>
            </a:r>
            <a:endParaRPr sz="1600">
              <a:solidFill>
                <a:srgbClr val="111111"/>
              </a:solidFill>
              <a:highlight>
                <a:srgbClr val="FFFFFF"/>
              </a:highlight>
            </a:endParaRPr>
          </a:p>
        </p:txBody>
      </p:sp>
      <p:pic>
        <p:nvPicPr>
          <p:cNvPr id="189" name="Google Shape;189;p23"/>
          <p:cNvPicPr preferRelativeResize="0"/>
          <p:nvPr/>
        </p:nvPicPr>
        <p:blipFill rotWithShape="1">
          <a:blip r:embed="rId3">
            <a:alphaModFix/>
          </a:blip>
          <a:srcRect l="15488" t="9778" r="25238" b="11363"/>
          <a:stretch/>
        </p:blipFill>
        <p:spPr>
          <a:xfrm>
            <a:off x="6963491" y="843800"/>
            <a:ext cx="1555785" cy="4034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63500" y="0"/>
            <a:ext cx="2180500" cy="73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11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"/>
          <p:cNvSpPr txBox="1">
            <a:spLocks noGrp="1"/>
          </p:cNvSpPr>
          <p:nvPr>
            <p:ph type="title"/>
          </p:nvPr>
        </p:nvSpPr>
        <p:spPr>
          <a:xfrm>
            <a:off x="255675" y="365175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197" name="Google Shape;197;p24"/>
          <p:cNvSpPr txBox="1">
            <a:spLocks noGrp="1"/>
          </p:cNvSpPr>
          <p:nvPr>
            <p:ph type="body" idx="4294967295"/>
          </p:nvPr>
        </p:nvSpPr>
        <p:spPr>
          <a:xfrm>
            <a:off x="392125" y="902250"/>
            <a:ext cx="8520600" cy="166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Assembled Trays: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ts val="1600"/>
              <a:buChar char="●"/>
            </a:pPr>
            <a:r>
              <a:rPr lang="en" sz="1600">
                <a:solidFill>
                  <a:srgbClr val="111111"/>
                </a:solidFill>
                <a:highlight>
                  <a:schemeClr val="lt1"/>
                </a:highlight>
              </a:rPr>
              <a:t>Assembly test stand used to install readout units and detector modules onto trays</a:t>
            </a:r>
            <a:endParaRPr sz="1600">
              <a:solidFill>
                <a:srgbClr val="11111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Char char="●"/>
            </a:pPr>
            <a:r>
              <a:rPr lang="en" sz="1600">
                <a:solidFill>
                  <a:srgbClr val="111111"/>
                </a:solidFill>
                <a:highlight>
                  <a:schemeClr val="lt1"/>
                </a:highlight>
              </a:rPr>
              <a:t>The thermal cooling properties of the detector modules TECs tested individually and then with cold plate TEC activation</a:t>
            </a:r>
            <a:endParaRPr sz="1900"/>
          </a:p>
        </p:txBody>
      </p:sp>
      <p:pic>
        <p:nvPicPr>
          <p:cNvPr id="198" name="Google Shape;198;p24"/>
          <p:cNvPicPr preferRelativeResize="0"/>
          <p:nvPr/>
        </p:nvPicPr>
        <p:blipFill rotWithShape="1">
          <a:blip r:embed="rId3">
            <a:alphaModFix/>
          </a:blip>
          <a:srcRect l="43971" t="4465" r="2134" b="5872"/>
          <a:stretch/>
        </p:blipFill>
        <p:spPr>
          <a:xfrm>
            <a:off x="4230746" y="2450050"/>
            <a:ext cx="3421404" cy="259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63500" y="0"/>
            <a:ext cx="2180500" cy="7329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12</a:t>
            </a:fld>
            <a:endParaRPr>
              <a:solidFill>
                <a:schemeClr val="dk2"/>
              </a:solidFill>
            </a:endParaRPr>
          </a:p>
        </p:txBody>
      </p:sp>
      <p:pic>
        <p:nvPicPr>
          <p:cNvPr id="201" name="Google Shape;201;p24"/>
          <p:cNvPicPr preferRelativeResize="0"/>
          <p:nvPr/>
        </p:nvPicPr>
        <p:blipFill rotWithShape="1">
          <a:blip r:embed="rId5">
            <a:alphaModFix/>
          </a:blip>
          <a:srcRect b="9469"/>
          <a:stretch/>
        </p:blipFill>
        <p:spPr>
          <a:xfrm>
            <a:off x="943525" y="2450050"/>
            <a:ext cx="3018650" cy="259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and Discussion/Conclusion</a:t>
            </a:r>
            <a:endParaRPr/>
          </a:p>
        </p:txBody>
      </p:sp>
      <p:sp>
        <p:nvSpPr>
          <p:cNvPr id="207" name="Google Shape;207;p25"/>
          <p:cNvSpPr txBox="1">
            <a:spLocks noGrp="1"/>
          </p:cNvSpPr>
          <p:nvPr>
            <p:ph type="body" idx="4294967295"/>
          </p:nvPr>
        </p:nvSpPr>
        <p:spPr>
          <a:xfrm>
            <a:off x="2164850" y="1017800"/>
            <a:ext cx="5397000" cy="9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91">
                <a:solidFill>
                  <a:schemeClr val="dk1"/>
                </a:solidFill>
                <a:highlight>
                  <a:srgbClr val="FFFFFF"/>
                </a:highlight>
              </a:rPr>
              <a:t>Example of sensor module light yield readings:</a:t>
            </a:r>
            <a:endParaRPr sz="169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000">
              <a:solidFill>
                <a:srgbClr val="11111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3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08" name="Google Shape;208;p25"/>
          <p:cNvPicPr preferRelativeResize="0"/>
          <p:nvPr/>
        </p:nvPicPr>
        <p:blipFill rotWithShape="1">
          <a:blip r:embed="rId3">
            <a:alphaModFix/>
          </a:blip>
          <a:srcRect l="-1260" r="1259"/>
          <a:stretch/>
        </p:blipFill>
        <p:spPr>
          <a:xfrm>
            <a:off x="588300" y="1475575"/>
            <a:ext cx="3864051" cy="31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0675" y="1475575"/>
            <a:ext cx="3864049" cy="3175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63500" y="0"/>
            <a:ext cx="2180500" cy="73292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13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and Discussion/Conclusion</a:t>
            </a:r>
            <a:endParaRPr/>
          </a:p>
        </p:txBody>
      </p:sp>
      <p:sp>
        <p:nvSpPr>
          <p:cNvPr id="217" name="Google Shape;217;p26"/>
          <p:cNvSpPr txBox="1">
            <a:spLocks noGrp="1"/>
          </p:cNvSpPr>
          <p:nvPr>
            <p:ph type="body" idx="4294967295"/>
          </p:nvPr>
        </p:nvSpPr>
        <p:spPr>
          <a:xfrm>
            <a:off x="454225" y="1271725"/>
            <a:ext cx="4681800" cy="311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79">
                <a:solidFill>
                  <a:srgbClr val="111111"/>
                </a:solidFill>
                <a:highlight>
                  <a:srgbClr val="FFFFFF"/>
                </a:highlight>
              </a:rPr>
              <a:t>Example of a common detector modules TEC reading to right:</a:t>
            </a:r>
            <a:endParaRPr sz="2147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91440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2307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457200" lvl="0" indent="-320181" algn="l" rtl="0"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●"/>
            </a:pPr>
            <a:r>
              <a:rPr lang="en" sz="2307">
                <a:solidFill>
                  <a:srgbClr val="111111"/>
                </a:solidFill>
                <a:highlight>
                  <a:srgbClr val="FFFFFF"/>
                </a:highlight>
              </a:rPr>
              <a:t>Top: detector module temp compared to its copper housing temp</a:t>
            </a:r>
            <a:endParaRPr sz="2307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91440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2307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457200" lvl="0" indent="-320181" algn="l" rtl="0"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●"/>
            </a:pPr>
            <a:r>
              <a:rPr lang="en" sz="2307">
                <a:solidFill>
                  <a:srgbClr val="111111"/>
                </a:solidFill>
                <a:highlight>
                  <a:srgbClr val="FFFFFF"/>
                </a:highlight>
              </a:rPr>
              <a:t>Bottom: how much each TEC cooled in detector module</a:t>
            </a:r>
            <a:endParaRPr sz="2307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3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3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000">
              <a:solidFill>
                <a:srgbClr val="11111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3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18" name="Google Shape;21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6025" y="887300"/>
            <a:ext cx="4007975" cy="400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63500" y="0"/>
            <a:ext cx="2180500" cy="7329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14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7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and Discussion/Conclusion</a:t>
            </a:r>
            <a:endParaRPr/>
          </a:p>
        </p:txBody>
      </p:sp>
      <p:sp>
        <p:nvSpPr>
          <p:cNvPr id="226" name="Google Shape;226;p27"/>
          <p:cNvSpPr txBox="1">
            <a:spLocks noGrp="1"/>
          </p:cNvSpPr>
          <p:nvPr>
            <p:ph type="body" idx="4294967295"/>
          </p:nvPr>
        </p:nvSpPr>
        <p:spPr>
          <a:xfrm>
            <a:off x="1376300" y="1171000"/>
            <a:ext cx="8520600" cy="47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Example of thermal results of the first fully assembled BTL Tray at CERN: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227" name="Google Shape;227;p27"/>
          <p:cNvPicPr preferRelativeResize="0"/>
          <p:nvPr/>
        </p:nvPicPr>
        <p:blipFill rotWithShape="1">
          <a:blip r:embed="rId3">
            <a:alphaModFix/>
          </a:blip>
          <a:srcRect r="537"/>
          <a:stretch/>
        </p:blipFill>
        <p:spPr>
          <a:xfrm>
            <a:off x="502138" y="1581675"/>
            <a:ext cx="8139725" cy="322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63500" y="0"/>
            <a:ext cx="2180500" cy="73292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15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8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and Discussion/Conclusion</a:t>
            </a:r>
            <a:endParaRPr/>
          </a:p>
        </p:txBody>
      </p:sp>
      <p:sp>
        <p:nvSpPr>
          <p:cNvPr id="235" name="Google Shape;235;p28"/>
          <p:cNvSpPr txBox="1">
            <a:spLocks noGrp="1"/>
          </p:cNvSpPr>
          <p:nvPr>
            <p:ph type="body" idx="4294967295"/>
          </p:nvPr>
        </p:nvSpPr>
        <p:spPr>
          <a:xfrm>
            <a:off x="439275" y="956625"/>
            <a:ext cx="5883000" cy="37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600">
                <a:solidFill>
                  <a:srgbClr val="111111"/>
                </a:solidFill>
                <a:highlight>
                  <a:srgbClr val="FFFFFF"/>
                </a:highlight>
              </a:rPr>
              <a:t>Full Tray Thermal Results and Interpretation:</a:t>
            </a:r>
            <a:endParaRPr sz="16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SzPts val="688"/>
              <a:buNone/>
            </a:pPr>
            <a:endParaRPr sz="16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ts val="1600"/>
              <a:buChar char="●"/>
            </a:pPr>
            <a:r>
              <a:rPr lang="en" sz="1600">
                <a:solidFill>
                  <a:srgbClr val="111111"/>
                </a:solidFill>
                <a:highlight>
                  <a:srgbClr val="FFFFFF"/>
                </a:highlight>
              </a:rPr>
              <a:t>Some detector modules had electrical short</a:t>
            </a:r>
            <a:endParaRPr sz="16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Char char="○"/>
            </a:pPr>
            <a:r>
              <a:rPr lang="en" sz="1600">
                <a:solidFill>
                  <a:srgbClr val="111111"/>
                </a:solidFill>
                <a:highlight>
                  <a:srgbClr val="FFFFFF"/>
                </a:highlight>
              </a:rPr>
              <a:t>Made others cool rapidly while shorted one did not change temp. </a:t>
            </a:r>
            <a:endParaRPr sz="16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Char char="○"/>
            </a:pPr>
            <a:r>
              <a:rPr lang="en" sz="1600">
                <a:solidFill>
                  <a:srgbClr val="111111"/>
                </a:solidFill>
                <a:highlight>
                  <a:schemeClr val="lt1"/>
                </a:highlight>
              </a:rPr>
              <a:t>This is due to current flow </a:t>
            </a:r>
            <a:endParaRPr sz="1600">
              <a:solidFill>
                <a:srgbClr val="11111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600">
              <a:solidFill>
                <a:srgbClr val="111111"/>
              </a:solidFill>
              <a:highlight>
                <a:schemeClr val="lt1"/>
              </a:highlight>
            </a:endParaRPr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ts val="1600"/>
              <a:buChar char="●"/>
            </a:pPr>
            <a:r>
              <a:rPr lang="en" sz="1600">
                <a:solidFill>
                  <a:srgbClr val="111111"/>
                </a:solidFill>
                <a:highlight>
                  <a:srgbClr val="FFFFFF"/>
                </a:highlight>
              </a:rPr>
              <a:t>After iterative testing, we found the thermal material lining copper housing was too tight on TECS, causing the short</a:t>
            </a:r>
            <a:endParaRPr sz="16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6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ts val="1600"/>
              <a:buChar char="●"/>
            </a:pPr>
            <a:r>
              <a:rPr lang="en" sz="1600">
                <a:solidFill>
                  <a:srgbClr val="111111"/>
                </a:solidFill>
                <a:highlight>
                  <a:srgbClr val="FFFFFF"/>
                </a:highlight>
              </a:rPr>
              <a:t>More specifically, it was the aluminum on the thermal material against the TECS that caused an issue</a:t>
            </a:r>
            <a:endParaRPr sz="16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300"/>
              </a:spcBef>
              <a:spcAft>
                <a:spcPts val="300"/>
              </a:spcAft>
              <a:buNone/>
            </a:pPr>
            <a:endParaRPr sz="1425"/>
          </a:p>
        </p:txBody>
      </p:sp>
      <p:pic>
        <p:nvPicPr>
          <p:cNvPr id="236" name="Google Shape;236;p28"/>
          <p:cNvPicPr preferRelativeResize="0"/>
          <p:nvPr/>
        </p:nvPicPr>
        <p:blipFill rotWithShape="1">
          <a:blip r:embed="rId3">
            <a:alphaModFix/>
          </a:blip>
          <a:srcRect l="22971" t="21279" r="10807" b="56330"/>
          <a:stretch/>
        </p:blipFill>
        <p:spPr>
          <a:xfrm>
            <a:off x="6322275" y="3296475"/>
            <a:ext cx="2825401" cy="1177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2275" y="816850"/>
            <a:ext cx="2825401" cy="239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63500" y="0"/>
            <a:ext cx="2180500" cy="73292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16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9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245" name="Google Shape;245;p29"/>
          <p:cNvSpPr txBox="1">
            <a:spLocks noGrp="1"/>
          </p:cNvSpPr>
          <p:nvPr>
            <p:ph type="body" idx="4294967295"/>
          </p:nvPr>
        </p:nvSpPr>
        <p:spPr>
          <a:xfrm>
            <a:off x="311700" y="954525"/>
            <a:ext cx="7378500" cy="36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-335662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86"/>
              <a:buChar char="●"/>
            </a:pPr>
            <a:r>
              <a:rPr lang="en" sz="1686">
                <a:solidFill>
                  <a:srgbClr val="111111"/>
                </a:solidFill>
                <a:highlight>
                  <a:srgbClr val="FFFFFF"/>
                </a:highlight>
              </a:rPr>
              <a:t>Currently the lab is testing other thermal materials for the inside of the copper housing</a:t>
            </a:r>
            <a:endParaRPr sz="1686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686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914400" lvl="1" indent="-335662" algn="l" rtl="0"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ts val="1686"/>
              <a:buChar char="○"/>
            </a:pPr>
            <a:r>
              <a:rPr lang="en" sz="1686">
                <a:solidFill>
                  <a:srgbClr val="111111"/>
                </a:solidFill>
                <a:highlight>
                  <a:srgbClr val="FFFFFF"/>
                </a:highlight>
              </a:rPr>
              <a:t>Running thermal tests for detector modules with different thermal material</a:t>
            </a:r>
            <a:endParaRPr sz="1686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686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914400" lvl="1" indent="-335662" algn="l" rtl="0"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ts val="1686"/>
              <a:buChar char="○"/>
            </a:pPr>
            <a:r>
              <a:rPr lang="en" sz="1686">
                <a:solidFill>
                  <a:srgbClr val="111111"/>
                </a:solidFill>
                <a:highlight>
                  <a:srgbClr val="FFFFFF"/>
                </a:highlight>
              </a:rPr>
              <a:t>Need to either adjust the thermal material in copper housing, how tightly we tighten the copper housing using the DM housing tool, or both</a:t>
            </a:r>
            <a:endParaRPr sz="1686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91440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686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457200" lvl="0" indent="-335662" algn="l" rtl="0"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ts val="1686"/>
              <a:buChar char="●"/>
            </a:pPr>
            <a:r>
              <a:rPr lang="en" sz="1686">
                <a:solidFill>
                  <a:srgbClr val="111111"/>
                </a:solidFill>
                <a:highlight>
                  <a:srgbClr val="FFFFFF"/>
                </a:highlight>
              </a:rPr>
              <a:t>Once we can get tray working, we will have a more optimized process of assembling and testing BTL trays for assembly </a:t>
            </a:r>
            <a:endParaRPr sz="2300"/>
          </a:p>
        </p:txBody>
      </p:sp>
      <p:pic>
        <p:nvPicPr>
          <p:cNvPr id="246" name="Google Shape;24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3500" y="0"/>
            <a:ext cx="2180500" cy="73292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17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0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Acknowledgements</a:t>
            </a:r>
            <a:endParaRPr/>
          </a:p>
        </p:txBody>
      </p:sp>
      <p:sp>
        <p:nvSpPr>
          <p:cNvPr id="253" name="Google Shape;253;p30"/>
          <p:cNvSpPr txBox="1">
            <a:spLocks noGrp="1"/>
          </p:cNvSpPr>
          <p:nvPr>
            <p:ph type="body" idx="1"/>
          </p:nvPr>
        </p:nvSpPr>
        <p:spPr>
          <a:xfrm>
            <a:off x="311700" y="902250"/>
            <a:ext cx="8520600" cy="36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1111"/>
                </a:solidFill>
                <a:highlight>
                  <a:srgbClr val="FFFFFF"/>
                </a:highlight>
              </a:rPr>
              <a:t>I would like to thank:</a:t>
            </a:r>
            <a:endParaRPr sz="16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6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457200" lvl="0" indent="-322580" algn="l" rtl="0"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●"/>
            </a:pPr>
            <a:r>
              <a:rPr lang="en" sz="1600">
                <a:solidFill>
                  <a:srgbClr val="111111"/>
                </a:solidFill>
                <a:highlight>
                  <a:srgbClr val="FFFFFF"/>
                </a:highlight>
              </a:rPr>
              <a:t>My mentors Adi Bornheim and Maria Spiropulu for this research opportunity</a:t>
            </a:r>
            <a:endParaRPr sz="16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6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457200" lvl="0" indent="-322580" algn="l" rtl="0"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●"/>
            </a:pPr>
            <a:r>
              <a:rPr lang="en" sz="1600">
                <a:solidFill>
                  <a:srgbClr val="111111"/>
                </a:solidFill>
                <a:highlight>
                  <a:srgbClr val="FFFFFF"/>
                </a:highlight>
              </a:rPr>
              <a:t>Guillermo Reales Gutierrez and Ianos Schmidt for their collaboration and support in mechanical engineering projects</a:t>
            </a:r>
            <a:endParaRPr sz="16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6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457200" lvl="0" indent="-322580" algn="l" rtl="0"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●"/>
            </a:pPr>
            <a:r>
              <a:rPr lang="en" sz="1600">
                <a:solidFill>
                  <a:srgbClr val="111111"/>
                </a:solidFill>
                <a:highlight>
                  <a:srgbClr val="FFFFFF"/>
                </a:highlight>
              </a:rPr>
              <a:t>Everyone at CERN working on the BTL Assembly project for answering questions/ helping me learn more about this research</a:t>
            </a:r>
            <a:endParaRPr sz="16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6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457200" lvl="0" indent="-322580" algn="l" rtl="0"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●"/>
            </a:pPr>
            <a:r>
              <a:rPr lang="en" sz="1600">
                <a:solidFill>
                  <a:srgbClr val="111111"/>
                </a:solidFill>
                <a:highlight>
                  <a:schemeClr val="lt1"/>
                </a:highlight>
              </a:rPr>
              <a:t>Department of Engineering U.S. CMS MTD/CPT grant </a:t>
            </a:r>
            <a:r>
              <a:rPr lang="en" sz="1600">
                <a:solidFill>
                  <a:srgbClr val="111111"/>
                </a:solidFill>
                <a:highlight>
                  <a:srgbClr val="FFFFFF"/>
                </a:highlight>
              </a:rPr>
              <a:t>for funding this research</a:t>
            </a:r>
            <a:endParaRPr sz="16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6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457200" lvl="0" indent="-322580" algn="l" rtl="0"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ct val="100000"/>
              <a:buChar char="●"/>
            </a:pPr>
            <a:r>
              <a:rPr lang="en" sz="1600">
                <a:solidFill>
                  <a:srgbClr val="111111"/>
                </a:solidFill>
                <a:highlight>
                  <a:srgbClr val="FFFFFF"/>
                </a:highlight>
              </a:rPr>
              <a:t>SFP program at Caltech</a:t>
            </a:r>
            <a:endParaRPr sz="16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3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54" name="Google Shape;25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3500" y="0"/>
            <a:ext cx="2180500" cy="73292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1"/>
          <p:cNvSpPr txBox="1">
            <a:spLocks noGrp="1"/>
          </p:cNvSpPr>
          <p:nvPr>
            <p:ph type="title"/>
          </p:nvPr>
        </p:nvSpPr>
        <p:spPr>
          <a:xfrm>
            <a:off x="3157200" y="1782625"/>
            <a:ext cx="28296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261" name="Google Shape;261;p31"/>
          <p:cNvSpPr txBox="1">
            <a:spLocks noGrp="1"/>
          </p:cNvSpPr>
          <p:nvPr>
            <p:ph type="title"/>
          </p:nvPr>
        </p:nvSpPr>
        <p:spPr>
          <a:xfrm>
            <a:off x="3581300" y="2571750"/>
            <a:ext cx="28296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/>
              <a:t>Questions?</a:t>
            </a:r>
            <a:endParaRPr sz="3080"/>
          </a:p>
        </p:txBody>
      </p:sp>
      <p:sp>
        <p:nvSpPr>
          <p:cNvPr id="262" name="Google Shape;262;p3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pic>
        <p:nvPicPr>
          <p:cNvPr id="263" name="Google Shape;26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428875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1064</Words>
  <Application>Microsoft Office PowerPoint</Application>
  <PresentationFormat>On-screen Show (16:9)</PresentationFormat>
  <Paragraphs>171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Times New Roman</vt:lpstr>
      <vt:lpstr>Courier New</vt:lpstr>
      <vt:lpstr>Roboto</vt:lpstr>
      <vt:lpstr>Arial</vt:lpstr>
      <vt:lpstr>Geometric</vt:lpstr>
      <vt:lpstr>CERN Particle Collider Update for more discovery in high energy physics  (HL LHC)</vt:lpstr>
      <vt:lpstr>Introduction</vt:lpstr>
      <vt:lpstr>Background and Motivation</vt:lpstr>
      <vt:lpstr>Background and Motivation</vt:lpstr>
      <vt:lpstr>Background and Motivation</vt:lpstr>
      <vt:lpstr>CMS Diagram (peeling the onion)</vt:lpstr>
      <vt:lpstr>Summer Internship Overview</vt:lpstr>
      <vt:lpstr>Summer Internship Overview</vt:lpstr>
      <vt:lpstr>Methodology</vt:lpstr>
      <vt:lpstr>Methodology</vt:lpstr>
      <vt:lpstr>Methodology</vt:lpstr>
      <vt:lpstr>Methodology</vt:lpstr>
      <vt:lpstr>Results and Discussion/Conclusion</vt:lpstr>
      <vt:lpstr>Results and Discussion/Conclusion</vt:lpstr>
      <vt:lpstr>Results and Discussion/Conclusion</vt:lpstr>
      <vt:lpstr>Results and Discussion/Conclusion</vt:lpstr>
      <vt:lpstr>Conclusion</vt:lpstr>
      <vt:lpstr>Acknowledgements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Sevier, Kristina A. (Kristi)</cp:lastModifiedBy>
  <cp:revision>1</cp:revision>
  <dcterms:modified xsi:type="dcterms:W3CDTF">2025-01-19T05:26:16Z</dcterms:modified>
</cp:coreProperties>
</file>